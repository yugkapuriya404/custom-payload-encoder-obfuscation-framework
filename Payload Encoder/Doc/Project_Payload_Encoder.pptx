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14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87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16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29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0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3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12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1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9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83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74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9314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187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296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374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48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27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DD4CC-8762-4339-B704-D043953E025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A672F-2733-4A13-8372-B4A085B6F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674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yug-kapuriya-4b2648295" TargetMode="External"/><Relationship Id="rId2" Type="http://schemas.openxmlformats.org/officeDocument/2006/relationships/hyperlink" Target="mailto:yugkapuriya404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A664-2C5C-1AE0-7C40-89DC78A7C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Name :- Yug </a:t>
            </a:r>
            <a:r>
              <a:rPr lang="en-IN" sz="4800" b="1" dirty="0" err="1"/>
              <a:t>Kapuriya</a:t>
            </a:r>
            <a:r>
              <a:rPr lang="en-IN" sz="4800" b="1" dirty="0"/>
              <a:t> </a:t>
            </a:r>
            <a:br>
              <a:rPr lang="en-IN" sz="4800" b="1" dirty="0"/>
            </a:br>
            <a:r>
              <a:rPr lang="en-IN" sz="4800" b="1" dirty="0"/>
              <a:t>UNID :- UMID13012677975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37EE5-F5DF-96ED-3426-06531EB02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Gmail      :- </a:t>
            </a:r>
            <a:r>
              <a:rPr lang="en-US" dirty="0">
                <a:hlinkClick r:id="rId2"/>
              </a:rPr>
              <a:t>yugkapuriya404@gmail.com</a:t>
            </a:r>
            <a:endParaRPr lang="en-US" dirty="0"/>
          </a:p>
          <a:p>
            <a:pPr algn="l"/>
            <a:r>
              <a:rPr lang="en-US" dirty="0"/>
              <a:t>LinkedIn :- </a:t>
            </a:r>
            <a:r>
              <a:rPr lang="en-US" dirty="0">
                <a:hlinkClick r:id="rId3"/>
              </a:rPr>
              <a:t>Yug </a:t>
            </a:r>
            <a:r>
              <a:rPr lang="en-US" dirty="0" err="1">
                <a:hlinkClick r:id="rId3"/>
              </a:rPr>
              <a:t>Kapuriya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73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2D46-5125-34AE-78D6-10AAA9EE8A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Custom Payload Encoder &amp; Obfuscation Framework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4BC31-8639-697A-16A9-C9251D126E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89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45759-C252-CE46-8C08-613036B5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Modules Included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9AF6-F95F-55C1-6D20-7454B03BF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Encoder  (Base64 / XOR / ROT13 / Multi-Layer)</a:t>
            </a:r>
          </a:p>
          <a:p>
            <a:r>
              <a:rPr lang="en-IN" dirty="0"/>
              <a:t>Obfuscator  (Hex / Reverse / Toggle / Insert)</a:t>
            </a:r>
          </a:p>
          <a:p>
            <a:r>
              <a:rPr lang="en-IN" dirty="0"/>
              <a:t>Evasion Tester  (signature checks)</a:t>
            </a:r>
          </a:p>
          <a:p>
            <a:r>
              <a:rPr lang="en-IN" dirty="0"/>
              <a:t>Report Generator  (payload_report.txt)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49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67DF-3EDB-C8BA-BFFF-938E9B91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Purpose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26699-2F94-8C5E-FE13-DEA2CA2ED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Study how offensive payloads are transformed to evade detection</a:t>
            </a:r>
          </a:p>
          <a:p>
            <a:pPr lvl="0"/>
            <a:r>
              <a:rPr lang="en-IN" dirty="0"/>
              <a:t>Understand encoding techniques: Base64, XOR, ROT13 and Multi-Layer</a:t>
            </a:r>
          </a:p>
          <a:p>
            <a:pPr lvl="0"/>
            <a:r>
              <a:rPr lang="en-IN" dirty="0"/>
              <a:t>Simulate evasion testing against basic static signature-based detection</a:t>
            </a:r>
          </a:p>
          <a:p>
            <a:pPr lvl="0"/>
            <a:r>
              <a:rPr lang="en-IN" dirty="0"/>
              <a:t>Compare original vs. encoded/obfuscated payloads side by side</a:t>
            </a:r>
          </a:p>
          <a:p>
            <a:pPr lvl="0"/>
            <a:r>
              <a:rPr lang="en-IN" dirty="0"/>
              <a:t>Generate structured audit reports with evasion insights and recommendations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74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A34E-485E-8CA7-E650-DE324617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and Technologies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8A0DDD-8D54-0348-4059-E56DFC041C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097198"/>
              </p:ext>
            </p:extLst>
          </p:nvPr>
        </p:nvGraphicFramePr>
        <p:xfrm>
          <a:off x="838199" y="1818968"/>
          <a:ext cx="9642988" cy="43163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21494">
                  <a:extLst>
                    <a:ext uri="{9D8B030D-6E8A-4147-A177-3AD203B41FA5}">
                      <a16:colId xmlns:a16="http://schemas.microsoft.com/office/drawing/2014/main" val="2401845618"/>
                    </a:ext>
                  </a:extLst>
                </a:gridCol>
                <a:gridCol w="4821494">
                  <a:extLst>
                    <a:ext uri="{9D8B030D-6E8A-4147-A177-3AD203B41FA5}">
                      <a16:colId xmlns:a16="http://schemas.microsoft.com/office/drawing/2014/main" val="4211767022"/>
                    </a:ext>
                  </a:extLst>
                </a:gridCol>
              </a:tblGrid>
              <a:tr h="5263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Technology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Purpose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037476946"/>
                  </a:ext>
                </a:extLst>
              </a:tr>
              <a:tr h="5263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Python 3.x</a:t>
                      </a:r>
                      <a:endParaRPr lang="en-IN" sz="1400" b="1" kern="1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Core programming language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764567608"/>
                  </a:ext>
                </a:extLst>
              </a:tr>
              <a:tr h="912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base64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Base64 encoding and decoding module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252307205"/>
                  </a:ext>
                </a:extLst>
              </a:tr>
              <a:tr h="912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itertools / random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Character manipulation and obfuscation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656122904"/>
                  </a:ext>
                </a:extLst>
              </a:tr>
              <a:tr h="9124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hashlib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Hashing functions (used in evasion testing)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7590821"/>
                  </a:ext>
                </a:extLst>
              </a:tr>
              <a:tr h="5263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argparse</a:t>
                      </a:r>
                      <a:endParaRPr lang="en-IN" sz="1400" b="1" kern="1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Optional CLI argument parsing</a:t>
                      </a:r>
                      <a:endParaRPr lang="en-IN" sz="1400" b="1" kern="1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901863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3963-DFF8-4ECE-0228-3F57E3F2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1 — Encoder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41AEF-BA58-B507-F466-2D8DD0AAA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Encodes the payload using the selected method. Supports Base64, XOR (user-defined key), ROT13, and Multi-Layer (Base64 + XOR + ROT13 combined).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5206D7-88AE-C3C0-EB6A-BDDE558C0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896361"/>
              </p:ext>
            </p:extLst>
          </p:nvPr>
        </p:nvGraphicFramePr>
        <p:xfrm>
          <a:off x="1288025" y="3322544"/>
          <a:ext cx="9261987" cy="29382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66492">
                  <a:extLst>
                    <a:ext uri="{9D8B030D-6E8A-4147-A177-3AD203B41FA5}">
                      <a16:colId xmlns:a16="http://schemas.microsoft.com/office/drawing/2014/main" val="2873589229"/>
                    </a:ext>
                  </a:extLst>
                </a:gridCol>
                <a:gridCol w="6095495">
                  <a:extLst>
                    <a:ext uri="{9D8B030D-6E8A-4147-A177-3AD203B41FA5}">
                      <a16:colId xmlns:a16="http://schemas.microsoft.com/office/drawing/2014/main" val="1701690104"/>
                    </a:ext>
                  </a:extLst>
                </a:gridCol>
              </a:tblGrid>
              <a:tr h="3210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Item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Detail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395989619"/>
                  </a:ext>
                </a:extLst>
              </a:tr>
              <a:tr h="321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File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encoder.py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644357875"/>
                  </a:ext>
                </a:extLst>
              </a:tr>
              <a:tr h="321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Function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encode_payload(payload)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838968839"/>
                  </a:ext>
                </a:extLst>
              </a:tr>
              <a:tr h="321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Methods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Base64, XOR (key), ROT13, Multi-Layer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787279478"/>
                  </a:ext>
                </a:extLst>
              </a:tr>
              <a:tr h="321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Input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Raw payload string + method choice (menu)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903226738"/>
                  </a:ext>
                </a:extLst>
              </a:tr>
              <a:tr h="321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Output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Encoded string + method name tuple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972158495"/>
                  </a:ext>
                </a:extLst>
              </a:tr>
              <a:tr h="321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Multi-Layer Order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Base64  →  XOR  →  ROT13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861957204"/>
                  </a:ext>
                </a:extLst>
              </a:tr>
              <a:tr h="321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XOR Key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Asked only when XOR is selected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466487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273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C87D-1B04-4E01-7050-D2B10301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2 — Obfuscator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51C5-7104-E19B-A2EC-360DDF0BE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Applies string obfuscation techniques to make payloads unrecognizable to simple pattern matching and signature scanning.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5DD82-4518-8F51-9EAD-1528C9C1A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16581"/>
              </p:ext>
            </p:extLst>
          </p:nvPr>
        </p:nvGraphicFramePr>
        <p:xfrm>
          <a:off x="1012723" y="3428999"/>
          <a:ext cx="9733935" cy="26375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7840">
                  <a:extLst>
                    <a:ext uri="{9D8B030D-6E8A-4147-A177-3AD203B41FA5}">
                      <a16:colId xmlns:a16="http://schemas.microsoft.com/office/drawing/2014/main" val="3638290692"/>
                    </a:ext>
                  </a:extLst>
                </a:gridCol>
                <a:gridCol w="6406095">
                  <a:extLst>
                    <a:ext uri="{9D8B030D-6E8A-4147-A177-3AD203B41FA5}">
                      <a16:colId xmlns:a16="http://schemas.microsoft.com/office/drawing/2014/main" val="1758421512"/>
                    </a:ext>
                  </a:extLst>
                </a:gridCol>
              </a:tblGrid>
              <a:tr h="439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Item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Detail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713854741"/>
                  </a:ext>
                </a:extLst>
              </a:tr>
              <a:tr h="439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File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obfuscator.py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318818792"/>
                  </a:ext>
                </a:extLst>
              </a:tr>
              <a:tr h="439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Function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obfuscate_payload(payload, method)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345126411"/>
                  </a:ext>
                </a:extLst>
              </a:tr>
              <a:tr h="439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Hex Escape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Converts every character to \xNN hex code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60644955"/>
                  </a:ext>
                </a:extLst>
              </a:tr>
              <a:tr h="439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Reverse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Flips the entire string backwards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585479665"/>
                  </a:ext>
                </a:extLst>
              </a:tr>
              <a:tr h="439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Case Toggle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Alternates UPPER and lower characters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88640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48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3D4C-7077-2DF9-7705-A0FF097A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3 — Evasion Tester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F477-F535-6976-8FC9-C74D6042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Simulates signature-based detection. Scans both original and encoded payloads against a database of known malicious keywords and compares detection results.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D3BE25-77F3-4BE8-23C9-B7F523AEC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167033"/>
              </p:ext>
            </p:extLst>
          </p:nvPr>
        </p:nvGraphicFramePr>
        <p:xfrm>
          <a:off x="1120877" y="3590862"/>
          <a:ext cx="9704439" cy="2721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7757">
                  <a:extLst>
                    <a:ext uri="{9D8B030D-6E8A-4147-A177-3AD203B41FA5}">
                      <a16:colId xmlns:a16="http://schemas.microsoft.com/office/drawing/2014/main" val="3050346921"/>
                    </a:ext>
                  </a:extLst>
                </a:gridCol>
                <a:gridCol w="6386682">
                  <a:extLst>
                    <a:ext uri="{9D8B030D-6E8A-4147-A177-3AD203B41FA5}">
                      <a16:colId xmlns:a16="http://schemas.microsoft.com/office/drawing/2014/main" val="2522728696"/>
                    </a:ext>
                  </a:extLst>
                </a:gridCol>
              </a:tblGrid>
              <a:tr h="388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Item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Detail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539377490"/>
                  </a:ext>
                </a:extLst>
              </a:tr>
              <a:tr h="388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File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evasion_tester.py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014112566"/>
                  </a:ext>
                </a:extLst>
              </a:tr>
              <a:tr h="388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Function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run_evasion_test(original, encoded)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036196440"/>
                  </a:ext>
                </a:extLst>
              </a:tr>
              <a:tr h="388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Signatures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keywords: powershell, whoami, cmd.exe, wget, curl, eval, exec, shellcode...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636039940"/>
                  </a:ext>
                </a:extLst>
              </a:tr>
              <a:tr h="388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Scan Original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Checks if original payload matches any signature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47975398"/>
                  </a:ext>
                </a:extLst>
              </a:tr>
              <a:tr h="388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Scan Encoded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Checks if encoded payload matches any signature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245272257"/>
                  </a:ext>
                </a:extLst>
              </a:tr>
              <a:tr h="388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Result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EVADED (bypass successful) or CAUGHT (detected)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700115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26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A95D-8BE9-9708-ABA9-676ABD61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4 — Report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8601-2E2D-528D-F5B7-3BCD65BAA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Compiles all encoding and evasion results into a formatted audit report and saves it as payload_report.txt in the project folder.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4E4F62-9EB4-27A5-C51A-877764B70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319402"/>
              </p:ext>
            </p:extLst>
          </p:nvPr>
        </p:nvGraphicFramePr>
        <p:xfrm>
          <a:off x="1209367" y="3429000"/>
          <a:ext cx="9478298" cy="29382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443">
                  <a:extLst>
                    <a:ext uri="{9D8B030D-6E8A-4147-A177-3AD203B41FA5}">
                      <a16:colId xmlns:a16="http://schemas.microsoft.com/office/drawing/2014/main" val="2826674751"/>
                    </a:ext>
                  </a:extLst>
                </a:gridCol>
                <a:gridCol w="6237855">
                  <a:extLst>
                    <a:ext uri="{9D8B030D-6E8A-4147-A177-3AD203B41FA5}">
                      <a16:colId xmlns:a16="http://schemas.microsoft.com/office/drawing/2014/main" val="440372299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Item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Detail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193667164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File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report_generator.py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608609002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Function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 err="1">
                          <a:effectLst/>
                        </a:rPr>
                        <a:t>generate_report</a:t>
                      </a:r>
                      <a:r>
                        <a:rPr lang="en-IN" sz="1600" kern="100" dirty="0">
                          <a:effectLst/>
                        </a:rPr>
                        <a:t>(results)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563684520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Payload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Original payload tested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656750186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Method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Encoding or obfuscation method used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700480236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Evasion Result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EVADED or CAUGHT per test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869383106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Summary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Total tested, evaded count, evasion rate %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18878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Recommendations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4 actionable security improvement tips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484443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790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F2AC-C8A7-2741-BF4D-066139DA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Offensive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C8F5A-6A9F-B6D7-3AB0-16EF1C9A4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Payload mutation and transformation using encoding layers</a:t>
            </a:r>
          </a:p>
          <a:p>
            <a:pPr lvl="0"/>
            <a:r>
              <a:rPr lang="en-IN" dirty="0"/>
              <a:t>Basic encryption (XOR) and substitution ciphers (ROT13)</a:t>
            </a:r>
          </a:p>
          <a:p>
            <a:pPr lvl="0"/>
            <a:r>
              <a:rPr lang="en-IN" dirty="0"/>
              <a:t>Breaking signature-based detection through obfuscation</a:t>
            </a:r>
          </a:p>
          <a:p>
            <a:pPr lvl="0"/>
            <a:r>
              <a:rPr lang="en-IN" dirty="0"/>
              <a:t>Pattern evasion testing against simulated antivirus signatures</a:t>
            </a:r>
          </a:p>
          <a:p>
            <a:pPr lvl="0"/>
            <a:r>
              <a:rPr lang="en-IN" dirty="0"/>
              <a:t>Multi-layer encoding for maximum signature bypass effectiveness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15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4D68-19D6-5B90-0F27-9268ED3B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Defensive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8395B-58E3-5B59-8048-4FBEEAC9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Understanding limitations of static signature-only detection</a:t>
            </a:r>
          </a:p>
          <a:p>
            <a:pPr lvl="0"/>
            <a:r>
              <a:rPr lang="en-IN" dirty="0"/>
              <a:t>Demonstrating why layered security (signature + </a:t>
            </a:r>
            <a:r>
              <a:rPr lang="en-IN" dirty="0" err="1"/>
              <a:t>behavioral</a:t>
            </a:r>
            <a:r>
              <a:rPr lang="en-IN" dirty="0"/>
              <a:t>) is necessary</a:t>
            </a:r>
          </a:p>
          <a:p>
            <a:pPr lvl="0"/>
            <a:r>
              <a:rPr lang="en-IN" dirty="0"/>
              <a:t>Recognizing common obfuscation patterns used by real attackers</a:t>
            </a:r>
          </a:p>
          <a:p>
            <a:pPr lvl="0"/>
            <a:r>
              <a:rPr lang="en-IN" dirty="0"/>
              <a:t>Strengthening detection rules based on evasion test results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41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0ED1-9D86-4FDE-7FE9-E0A97662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Security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2514-F63D-D126-7818-E9A145D07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Signature detection alone is easily bypassed — never use as sole </a:t>
            </a:r>
            <a:r>
              <a:rPr lang="en-IN" b="1" dirty="0" err="1"/>
              <a:t>defense</a:t>
            </a:r>
            <a:endParaRPr lang="en-IN" dirty="0"/>
          </a:p>
          <a:p>
            <a:pPr lvl="0"/>
            <a:r>
              <a:rPr lang="en-IN" dirty="0"/>
              <a:t>Combine </a:t>
            </a:r>
            <a:r>
              <a:rPr lang="en-IN" dirty="0" err="1"/>
              <a:t>behavioral</a:t>
            </a:r>
            <a:r>
              <a:rPr lang="en-IN" dirty="0"/>
              <a:t> analysis + signature matching for layered security</a:t>
            </a:r>
          </a:p>
          <a:p>
            <a:pPr lvl="0"/>
            <a:r>
              <a:rPr lang="en-IN" dirty="0"/>
              <a:t>Update signature databases regularly with new payload samples</a:t>
            </a:r>
          </a:p>
          <a:p>
            <a:pPr lvl="0"/>
            <a:r>
              <a:rPr lang="en-IN" dirty="0"/>
              <a:t>Implement allow-listing in addition to deny-listing for critical systems</a:t>
            </a:r>
          </a:p>
          <a:p>
            <a:pPr lvl="0"/>
            <a:r>
              <a:rPr lang="en-IN" dirty="0"/>
              <a:t>Monitor network traffic for unusual patterns even without keyword matches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3036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3DB2-A024-A9B7-2F68-736142F4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Ethical &amp; Legal Disclaimer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AAFA6-67EB-92FE-32E1-2BADB4233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IMPORTANT — Authorized Use Only</a:t>
            </a:r>
            <a:endParaRPr lang="en-IN" dirty="0"/>
          </a:p>
          <a:p>
            <a:pPr lvl="0"/>
            <a:r>
              <a:rPr lang="en-IN" dirty="0"/>
              <a:t>Authorized penetration testing with written permission only</a:t>
            </a:r>
          </a:p>
          <a:p>
            <a:pPr lvl="0"/>
            <a:r>
              <a:rPr lang="en-IN" dirty="0"/>
              <a:t>Educational cybersecurity lab environments</a:t>
            </a:r>
          </a:p>
          <a:p>
            <a:pPr lvl="0"/>
            <a:r>
              <a:rPr lang="en-IN" dirty="0"/>
              <a:t>Security auditing of systems you own</a:t>
            </a:r>
          </a:p>
          <a:p>
            <a:r>
              <a:rPr lang="en-IN" b="1" dirty="0"/>
              <a:t>Unauthorized use is illegal under CFAA, UK Computer Misuse Act, and equivalent laws.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989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5EB9-9FB7-CC35-AD45-5E33F32C9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A3B46-DA2C-8D3F-34AE-6E2BBE3C6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440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</TotalTime>
  <Words>640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Tw Cen MT</vt:lpstr>
      <vt:lpstr>Circuit</vt:lpstr>
      <vt:lpstr>Name :- Yug Kapuriya  UNID :- UMID13012677975</vt:lpstr>
      <vt:lpstr>Custom Payload Encoder &amp; Obfuscation Framework</vt:lpstr>
      <vt:lpstr>Modules Included </vt:lpstr>
      <vt:lpstr>Purpose</vt:lpstr>
      <vt:lpstr>Tools and Technologies </vt:lpstr>
      <vt:lpstr>Module 1 — Encoder</vt:lpstr>
      <vt:lpstr>Module 2 — Obfuscator</vt:lpstr>
      <vt:lpstr>Module 3 — Evasion Tester</vt:lpstr>
      <vt:lpstr>Module 4 — Report Generator</vt:lpstr>
      <vt:lpstr>Offensive Techniques</vt:lpstr>
      <vt:lpstr>Defensive Techniques</vt:lpstr>
      <vt:lpstr>Security Recommendations</vt:lpstr>
      <vt:lpstr>Ethical &amp; Legal Disclaimer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yugkapuriya01@outlook.com</dc:creator>
  <cp:lastModifiedBy>yugkapuriya01@outlook.com</cp:lastModifiedBy>
  <cp:revision>1</cp:revision>
  <dcterms:created xsi:type="dcterms:W3CDTF">2026-03-12T06:58:11Z</dcterms:created>
  <dcterms:modified xsi:type="dcterms:W3CDTF">2026-03-12T06:59:32Z</dcterms:modified>
</cp:coreProperties>
</file>